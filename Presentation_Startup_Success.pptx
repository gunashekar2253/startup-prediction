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Start-Up Success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Advanced Machine Learning Framework</a:t>
            </a:r>
          </a:p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&amp; Overview</a:t>
            </a:r>
          </a:p>
          <a:p>
            <a:r>
              <a:t>Requirement Analysis</a:t>
            </a:r>
          </a:p>
          <a:p>
            <a:r>
              <a:t>Functional &amp; Non-Functional System Design</a:t>
            </a:r>
          </a:p>
          <a:p>
            <a:r>
              <a:t>Proposed System Features</a:t>
            </a:r>
          </a:p>
          <a:p>
            <a:r>
              <a:t>UML Use Case Diagram</a:t>
            </a:r>
          </a:p>
          <a:p>
            <a:r>
              <a:t>Data Flow Diagram (DFD)</a:t>
            </a:r>
          </a:p>
          <a:p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Statement: Predicting start-up success is complex due to nonlinear relationships and diverse factors.</a:t>
            </a:r>
          </a:p>
          <a:p>
            <a:r>
              <a:t>Solution Overview: An advanced Machine Learning framework leveraging multiple algorithms to predict success viability.</a:t>
            </a:r>
          </a:p>
          <a:p>
            <a:r>
              <a:t>Goal: Provide investors and founders with data-backed actionable insights and confidence 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Requirements analysis ensures the system meets the core needs of stakeholders.</a:t>
            </a:r>
          </a:p>
          <a:p>
            <a:pPr lvl="1"/>
            <a:r>
              <a:t>  - User Requirements:</a:t>
            </a:r>
          </a:p>
          <a:p>
            <a:pPr lvl="2"/>
            <a:r>
              <a:t>    - Intuitive dashboard for entering start-up data.</a:t>
            </a:r>
          </a:p>
          <a:p>
            <a:pPr lvl="2"/>
            <a:r>
              <a:t>    - Clear, understandable predictions (white-box AI).</a:t>
            </a:r>
          </a:p>
          <a:p>
            <a:pPr lvl="1"/>
            <a:r>
              <a:t>  - Business Requirements:</a:t>
            </a:r>
          </a:p>
          <a:p>
            <a:pPr lvl="2"/>
            <a:r>
              <a:t>    - Improve investment decision accuracy.</a:t>
            </a:r>
          </a:p>
          <a:p>
            <a:pPr lvl="2"/>
            <a:r>
              <a:t>    - Provide actionable recommendations for start-ups.</a:t>
            </a:r>
          </a:p>
          <a:p>
            <a:pPr lvl="1"/>
            <a:r>
              <a:t>  - Technical Requirements:</a:t>
            </a:r>
          </a:p>
          <a:p>
            <a:pPr lvl="2"/>
            <a:r>
              <a:t>    - Real-time data integration.</a:t>
            </a:r>
          </a:p>
          <a:p>
            <a:pPr lvl="2"/>
            <a:r>
              <a:t>    - Automated model retraining (MLOps)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and Non-Functional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Design ensures scalability, reliability, and security of the prediction framework.</a:t>
            </a:r>
          </a:p>
          <a:p>
            <a:pPr lvl="1"/>
            <a:r>
              <a:t>  - Functional Design:</a:t>
            </a:r>
          </a:p>
          <a:p>
            <a:pPr lvl="2"/>
            <a:r>
              <a:t>    - Data Collection &amp; Integration Engine.</a:t>
            </a:r>
          </a:p>
          <a:p>
            <a:pPr lvl="2"/>
            <a:r>
              <a:t>    - Multi-algorithm predictive modeling (RF, GBM, DNN).</a:t>
            </a:r>
          </a:p>
          <a:p>
            <a:pPr lvl="2"/>
            <a:r>
              <a:t>    - Explainable AI Module for feature importance.</a:t>
            </a:r>
          </a:p>
          <a:p>
            <a:pPr lvl="2"/>
            <a:r>
              <a:t>    - Interactive Visual Analytics Dashboard.</a:t>
            </a:r>
          </a:p>
          <a:p>
            <a:pPr lvl="1"/>
            <a:r>
              <a:t>  - Non-Functional Design:</a:t>
            </a:r>
          </a:p>
          <a:p>
            <a:pPr lvl="2"/>
            <a:r>
              <a:t>    - Performance: Real-time prediction rendering (&lt;2 seconds).</a:t>
            </a:r>
          </a:p>
          <a:p>
            <a:pPr lvl="2"/>
            <a:r>
              <a:t>    - Scalability: Capable of handling massive diverse datasets.</a:t>
            </a:r>
          </a:p>
          <a:p>
            <a:pPr lvl="2"/>
            <a:r>
              <a:t>    - Maintainability: Automated continuous learning/retraining.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Features (Part 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Advanced Machine Learning Framework</a:t>
            </a:r>
          </a:p>
          <a:p>
            <a:pPr lvl="1"/>
            <a:r>
              <a:t>  - Multi-Algorithm Approach (Random Forests, Gradient Boosting, Deep Neural Networks).</a:t>
            </a:r>
          </a:p>
          <a:p>
            <a:pPr lvl="1"/>
            <a:r>
              <a:t>  - High Accuracy by capturing intricate data patterns.</a:t>
            </a:r>
          </a:p>
          <a:p>
            <a:r>
              <a:t>2. Comprehensive &amp; Diverse Data Integration</a:t>
            </a:r>
          </a:p>
          <a:p>
            <a:pPr lvl="1"/>
            <a:r>
              <a:t>  - Rich Dataset: Financials, founder profiles, market trends,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Features (Part 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3. Real-Time Analytics &amp; Responsiveness</a:t>
            </a:r>
          </a:p>
          <a:p>
            <a:pPr lvl="1"/>
            <a:r>
              <a:t>  - Live Data Feeds to model current market conditions.</a:t>
            </a:r>
          </a:p>
          <a:p>
            <a:pPr lvl="1"/>
            <a:r>
              <a:t>  - Rapid reassessment as new data arrives.</a:t>
            </a:r>
          </a:p>
          <a:p>
            <a:r>
              <a:t>4. Automated Continuous Learning (MLOps)</a:t>
            </a:r>
          </a:p>
          <a:p>
            <a:pPr lvl="1"/>
            <a:r>
              <a:t>  - Dynamic Adaptation through self-improvement.</a:t>
            </a:r>
          </a:p>
          <a:p>
            <a:pPr lvl="1"/>
            <a:r>
              <a:t>  - Automated Retraining based on new trends and historical outcomes.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Features (Part 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5. Explainable AI (XAI) for Transparency</a:t>
            </a:r>
          </a:p>
          <a:p>
            <a:pPr lvl="1"/>
            <a:r>
              <a:t>  - White-Box predictions with direct feature importance insights.</a:t>
            </a:r>
          </a:p>
          <a:p>
            <a:r>
              <a:t>6. Interactive Visual Analytics Dashboard</a:t>
            </a:r>
          </a:p>
          <a:p>
            <a:pPr lvl="1"/>
            <a:r>
              <a:t>  - Confidence scores and data-backed Actionable Recommendations.</a:t>
            </a:r>
          </a:p>
          <a:p>
            <a:r>
              <a:t>7. Advanced Feature Engineering</a:t>
            </a:r>
          </a:p>
          <a:p>
            <a:pPr lvl="1"/>
            <a:r>
              <a:t>  - Dimensionality reduction to optimize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UML Diagram - Use Case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13716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Actor</a:t>
            </a:r>
          </a:p>
          <a:p>
            <a:r>
              <a:t>(Investor / Founder)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828800"/>
            <a:ext cx="5029200" cy="365760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3657600" y="2011680"/>
            <a:ext cx="228600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Input Start-Up Data</a:t>
            </a:r>
          </a:p>
        </p:txBody>
      </p:sp>
      <p:sp>
        <p:nvSpPr>
          <p:cNvPr id="6" name="Oval 5"/>
          <p:cNvSpPr/>
          <p:nvPr/>
        </p:nvSpPr>
        <p:spPr>
          <a:xfrm>
            <a:off x="3657600" y="3200400"/>
            <a:ext cx="228600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View Prediction Score</a:t>
            </a:r>
          </a:p>
        </p:txBody>
      </p:sp>
      <p:sp>
        <p:nvSpPr>
          <p:cNvPr id="7" name="Oval 6"/>
          <p:cNvSpPr/>
          <p:nvPr/>
        </p:nvSpPr>
        <p:spPr>
          <a:xfrm>
            <a:off x="3657600" y="4389120"/>
            <a:ext cx="228600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View AI Explanations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3200400"/>
            <a:ext cx="137160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Train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Note: Users interact with the system to provide data and receive explainable predictions.</a:t>
            </a:r>
          </a:p>
          <a:p>
            <a:r>
              <a:t>The system manages model training in the backend.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 (Level 0 / Context)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74320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/ Investor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286000"/>
            <a:ext cx="1828800" cy="1828800"/>
          </a:xfrm>
          <a:prstGeom prst="ellipse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Start-Up</a:t>
            </a:r>
          </a:p>
          <a:p>
            <a:r>
              <a:t>Success Predictor</a:t>
            </a:r>
          </a:p>
          <a:p>
            <a:r>
              <a:t>(ML System)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57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Market / Financial</a:t>
            </a:r>
          </a:p>
          <a:p>
            <a:r>
              <a:t>Data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274320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Prediction</a:t>
            </a:r>
          </a:p>
          <a:p>
            <a:r>
              <a:t>Decisions &amp;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2860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Start-Up Specs 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2004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&lt; UI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4630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 Live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926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Confidence Scores 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pPr lvl="1"/>
            <a:r>
              <a:t>  - A comprehensive, ML-driven approach to predict start-up success.</a:t>
            </a:r>
          </a:p>
          <a:p>
            <a:pPr lvl="1"/>
            <a:r>
              <a:t>  - Integrates diverse data sources for high-accuracy predictions.</a:t>
            </a:r>
          </a:p>
          <a:p>
            <a:pPr lvl="1"/>
            <a:r>
              <a:t>  - Prioritizes transparency (Explainable AI) to build stakeholder trust.</a:t>
            </a:r>
          </a:p>
          <a:p>
            <a:pPr lvl="1"/>
            <a:r>
              <a:t>  - Employs an automated retraining loop to adapt to current market trends.</a:t>
            </a:r>
          </a:p>
          <a:p>
            <a:r>
              <a:t>Impact:</a:t>
            </a:r>
          </a:p>
          <a:p>
            <a:pPr lvl="1"/>
            <a:r>
              <a:t>  - Empowers investors to make data-backed, confident funding decisions.</a:t>
            </a:r>
          </a:p>
          <a:p>
            <a:pPr lvl="1"/>
            <a:r>
              <a:t>  - Provides actionable insights for founders to improve growth viability.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